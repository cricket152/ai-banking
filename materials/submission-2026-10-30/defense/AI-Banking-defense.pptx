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10912" cy="6858000"/>
          </a:xfrm>
          <a:prstGeom prst="rect">
            <a:avLst/>
          </a:prstGeom>
          <a:solidFill>
            <a:srgbClr val="1E2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6656" y="594360"/>
            <a:ext cx="457200" cy="4572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43891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E2C33"/>
                </a:solidFill>
                <a:latin typeface="Microsoft YaHei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603504"/>
            <a:ext cx="30175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1EA"/>
                </a:solidFill>
                <a:latin typeface="Microsoft YaHei"/>
              </a:rPr>
              <a:t>AI-BANKING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896112"/>
            <a:ext cx="30175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1EA"/>
                </a:solidFill>
                <a:latin typeface="Microsoft YaHei"/>
              </a:rPr>
              <a:t>本地模拟工作台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13232" y="1444752"/>
            <a:ext cx="640080" cy="0"/>
          </a:xfrm>
          <a:prstGeom prst="line">
            <a:avLst/>
          </a:prstGeom>
          <a:ln w="27940">
            <a:solidFill>
              <a:srgbClr val="A66B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1737360"/>
            <a:ext cx="384048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4F1EA"/>
                </a:solidFill>
                <a:latin typeface="Microsoft YaHei"/>
              </a:rPr>
              <a:t>AI-Banking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913632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1EA"/>
                </a:solidFill>
                <a:latin typeface="Microsoft YaHei"/>
              </a:rPr>
              <a:t>受约束的个人银行助手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182112"/>
            <a:ext cx="3840480" cy="12070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4F1EA"/>
                </a:solidFill>
                <a:latin typeface="Microsoft YaHei"/>
              </a:rPr>
              <a:t>账单依据可追溯，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4F1EA"/>
                </a:solidFill>
                <a:latin typeface="Microsoft YaHei"/>
              </a:rPr>
              <a:t>业务操作由用户确认，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4F1EA"/>
                </a:solidFill>
                <a:latin typeface="Microsoft YaHei"/>
              </a:rPr>
              <a:t>最终状态以后端账本为准。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54880"/>
            <a:ext cx="3328416" cy="438912"/>
          </a:xfrm>
          <a:prstGeom prst="rect">
            <a:avLst/>
          </a:prstGeom>
          <a:solidFill>
            <a:srgbClr val="2D7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837176"/>
            <a:ext cx="3054096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EFB"/>
                </a:solidFill>
                <a:latin typeface="Microsoft YaHei"/>
              </a:rPr>
              <a:t>10页  ·  预计讲解 8分40秒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513832"/>
            <a:ext cx="3822191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1EA"/>
                </a:solidFill>
                <a:latin typeface="Microsoft YaHei"/>
              </a:rPr>
              <a:t>本地模拟  /  虚构数据  /  演示回复脚本化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40680" y="1024128"/>
            <a:ext cx="6053328" cy="4206240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2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025397"/>
            <a:ext cx="6053328" cy="42037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0" y="5376672"/>
            <a:ext cx="59436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6F70"/>
                </a:solidFill>
                <a:latin typeface="Microsoft YaHei"/>
              </a:rPr>
              <a:t>个人财务工作台 · 模拟环境截图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6455664"/>
            <a:ext cx="10762488" cy="0"/>
          </a:xfrm>
          <a:prstGeom prst="line">
            <a:avLst/>
          </a:prstGeom>
          <a:ln w="889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6510528"/>
            <a:ext cx="804672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6F70"/>
                </a:solidFill>
                <a:latin typeface="Microsoft YaHei"/>
              </a:rPr>
              <a:t>团队与成员信息：TODO  |  未上传，未正式提交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01384"/>
            <a:ext cx="8412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6F70"/>
                </a:solidFill>
                <a:latin typeface="Microsoft YaHei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201168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786A"/>
                </a:solidFill>
                <a:latin typeface="Microsoft YaHei"/>
              </a:rPr>
              <a:t>01 / 设计目标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C33"/>
                </a:solidFill>
                <a:latin typeface="Microsoft YaHei"/>
              </a:rPr>
              <a:t>金融Agent的难点，不止是听懂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89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6F70"/>
                </a:solidFill>
                <a:latin typeface="Microsoft YaHei"/>
              </a:rPr>
              <a:t>目标是让依据、边界与操作状态都能被用户核对。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13232" y="1389888"/>
            <a:ext cx="10762488" cy="0"/>
          </a:xfrm>
          <a:prstGeom prst="line">
            <a:avLst/>
          </a:prstGeom>
          <a:ln w="1143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31520" y="1847088"/>
            <a:ext cx="3383280" cy="2322576"/>
          </a:xfrm>
          <a:prstGeom prst="rect">
            <a:avLst/>
          </a:prstGeom>
          <a:solidFill>
            <a:srgbClr val="E7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103120"/>
            <a:ext cx="294436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C33"/>
                </a:solidFill>
                <a:latin typeface="Microsoft YaHei"/>
              </a:rPr>
              <a:t>01  有依据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633472"/>
            <a:ext cx="2944368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E2C33"/>
                </a:solidFill>
                <a:latin typeface="Microsoft YaHei"/>
              </a:rPr>
              <a:t>周期候选与异常线索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E2C33"/>
                </a:solidFill>
                <a:latin typeface="Microsoft YaHei"/>
              </a:rPr>
              <a:t>都要能展开到原始流水。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67328"/>
            <a:ext cx="294436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F70"/>
                </a:solidFill>
                <a:latin typeface="Microsoft YaHei"/>
              </a:rPr>
              <a:t>规则提示不是欺诈结论。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1847088"/>
            <a:ext cx="3383280" cy="2322576"/>
          </a:xfrm>
          <a:prstGeom prst="rect">
            <a:avLst/>
          </a:prstGeom>
          <a:solidFill>
            <a:srgbClr val="F4E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103120"/>
            <a:ext cx="294436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C33"/>
                </a:solidFill>
                <a:latin typeface="Microsoft YaHei"/>
              </a:rPr>
              <a:t>02  目标清楚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633472"/>
            <a:ext cx="2944368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E2C33"/>
                </a:solidFill>
                <a:latin typeface="Microsoft YaHei"/>
              </a:rPr>
              <a:t>同名对象、账户和金额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E2C33"/>
                </a:solidFill>
                <a:latin typeface="Microsoft YaHei"/>
              </a:rPr>
              <a:t>需要落到明确选项。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3767328"/>
            <a:ext cx="294436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F70"/>
                </a:solidFill>
                <a:latin typeface="Microsoft YaHei"/>
              </a:rPr>
              <a:t>查询命中不等于理解保证。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847088"/>
            <a:ext cx="3383280" cy="2322576"/>
          </a:xfrm>
          <a:prstGeom prst="rect">
            <a:avLst/>
          </a:prstGeom>
          <a:solidFill>
            <a:srgbClr val="E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2103120"/>
            <a:ext cx="294436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2C33"/>
                </a:solidFill>
                <a:latin typeface="Microsoft YaHei"/>
              </a:rPr>
              <a:t>03  状态分明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633472"/>
            <a:ext cx="2944368" cy="7680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E2C33"/>
                </a:solidFill>
                <a:latin typeface="Microsoft YaHei"/>
              </a:rPr>
              <a:t>保存、待确认、已完成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E2C33"/>
                </a:solidFill>
                <a:latin typeface="Microsoft YaHei"/>
              </a:rPr>
              <a:t>分别对应不同后端状态。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3767328"/>
            <a:ext cx="294436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26F70"/>
                </a:solidFill>
                <a:latin typeface="Microsoft YaHei"/>
              </a:rPr>
              <a:t>模型文字不是资金回执。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599432"/>
            <a:ext cx="109728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D786A"/>
                </a:solidFill>
                <a:latin typeface="Microsoft YaHei"/>
              </a:rPr>
              <a:t>演示主线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5010912"/>
            <a:ext cx="1627632" cy="621792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157216"/>
            <a:ext cx="1481328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C33"/>
                </a:solidFill>
                <a:latin typeface="Microsoft YaHei"/>
              </a:rPr>
              <a:t>查询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5175504"/>
            <a:ext cx="237744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66B2F"/>
                </a:solidFill>
                <a:latin typeface="Microsoft YaHei"/>
              </a:rPr>
              <a:t>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60904" y="5010912"/>
            <a:ext cx="1627632" cy="621792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34056" y="5157216"/>
            <a:ext cx="1481328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C33"/>
                </a:solidFill>
                <a:latin typeface="Microsoft YaHei"/>
              </a:rPr>
              <a:t>核对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5175504"/>
            <a:ext cx="237744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66B2F"/>
                </a:solidFill>
                <a:latin typeface="Microsoft YaHei"/>
              </a:rPr>
              <a:t>&gt;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5010912"/>
            <a:ext cx="1627632" cy="621792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5157216"/>
            <a:ext cx="1481328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C33"/>
                </a:solidFill>
                <a:latin typeface="Microsoft YaHei"/>
              </a:rPr>
              <a:t>预览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5175504"/>
            <a:ext cx="237744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66B2F"/>
                </a:solidFill>
                <a:latin typeface="Microsoft YaHei"/>
              </a:rPr>
              <a:t>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83096" y="5010912"/>
            <a:ext cx="1874519" cy="621792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5157216"/>
            <a:ext cx="1728216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C33"/>
                </a:solidFill>
                <a:latin typeface="Microsoft YaHei"/>
              </a:rPr>
              <a:t>独立确认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4776" y="5175504"/>
            <a:ext cx="237744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66B2F"/>
                </a:solidFill>
                <a:latin typeface="Microsoft YaHei"/>
              </a:rPr>
              <a:t>&gt;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41080" y="5010912"/>
            <a:ext cx="1627632" cy="621792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14232" y="5157216"/>
            <a:ext cx="1481328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C33"/>
                </a:solidFill>
                <a:latin typeface="Microsoft YaHei"/>
              </a:rPr>
              <a:t>核对回执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13232" y="6455664"/>
            <a:ext cx="10762488" cy="0"/>
          </a:xfrm>
          <a:prstGeom prst="line">
            <a:avLst/>
          </a:prstGeom>
          <a:ln w="889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6510528"/>
            <a:ext cx="804672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6F70"/>
                </a:solidFill>
                <a:latin typeface="Microsoft YaHei"/>
              </a:rPr>
              <a:t>AI-BANKING  |  本地模拟 · 虚构数据 · 脚本化演示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501384"/>
            <a:ext cx="8412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6F70"/>
                </a:solidFill>
                <a:latin typeface="Microsoft YaHe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201168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786A"/>
                </a:solidFill>
                <a:latin typeface="Microsoft YaHei"/>
              </a:rPr>
              <a:t>02 / 能力边界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C33"/>
                </a:solidFill>
                <a:latin typeface="Microsoft YaHei"/>
              </a:rPr>
              <a:t>Agent读什么、能准备什么，写入从哪里发起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89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6F70"/>
                </a:solidFill>
                <a:latin typeface="Microsoft YaHei"/>
              </a:rPr>
              <a:t>卡片、日期场景计划与理财数据对Agent只读/解释；对应写操作由界面发起。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13232" y="1389888"/>
            <a:ext cx="10762488" cy="0"/>
          </a:xfrm>
          <a:prstGeom prst="line">
            <a:avLst/>
          </a:prstGeom>
          <a:ln w="1143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31520" y="1682496"/>
            <a:ext cx="1417320" cy="475488"/>
          </a:xfrm>
          <a:prstGeom prst="rect">
            <a:avLst/>
          </a:prstGeom>
          <a:solidFill>
            <a:srgbClr val="1E2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55648"/>
            <a:ext cx="1197864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EFB"/>
                </a:solidFill>
                <a:latin typeface="Microsoft YaHei"/>
              </a:rPr>
              <a:t>业务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682496"/>
            <a:ext cx="2331720" cy="475488"/>
          </a:xfrm>
          <a:prstGeom prst="rect">
            <a:avLst/>
          </a:prstGeom>
          <a:solidFill>
            <a:srgbClr val="1E2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58568" y="1755648"/>
            <a:ext cx="2112263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EFB"/>
                </a:solidFill>
                <a:latin typeface="Microsoft YaHei"/>
              </a:rPr>
              <a:t>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682496"/>
            <a:ext cx="2880360" cy="475488"/>
          </a:xfrm>
          <a:prstGeom prst="rect">
            <a:avLst/>
          </a:prstGeom>
          <a:solidFill>
            <a:srgbClr val="1E2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755648"/>
            <a:ext cx="2660904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EFB"/>
                </a:solidFill>
                <a:latin typeface="Microsoft YaHei"/>
              </a:rPr>
              <a:t>写入路径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60920" y="1682496"/>
            <a:ext cx="4069080" cy="475488"/>
          </a:xfrm>
          <a:prstGeom prst="rect">
            <a:avLst/>
          </a:prstGeom>
          <a:solidFill>
            <a:srgbClr val="1E2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755648"/>
            <a:ext cx="3849624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EFB"/>
                </a:solidFill>
                <a:latin typeface="Microsoft YaHei"/>
              </a:rPr>
              <a:t>明确边界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157984"/>
            <a:ext cx="1417320" cy="932688"/>
          </a:xfrm>
          <a:prstGeom prst="rect">
            <a:avLst/>
          </a:prstGeom>
          <a:solidFill>
            <a:srgbClr val="FFFEFB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231136"/>
            <a:ext cx="119786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D786A"/>
                </a:solidFill>
                <a:latin typeface="Microsoft YaHei"/>
              </a:rPr>
              <a:t>账单 / 订阅 / 转账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48840" y="2157984"/>
            <a:ext cx="2331720" cy="932688"/>
          </a:xfrm>
          <a:prstGeom prst="rect">
            <a:avLst/>
          </a:prstGeom>
          <a:solidFill>
            <a:srgbClr val="FFFEFB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58568" y="2231136"/>
            <a:ext cx="2112263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查询；准备有限意图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2157984"/>
            <a:ext cx="2880360" cy="932688"/>
          </a:xfrm>
          <a:prstGeom prst="rect">
            <a:avLst/>
          </a:prstGeom>
          <a:solidFill>
            <a:srgbClr val="FFFEFB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231136"/>
            <a:ext cx="266090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界面逐步确认，或在有效预授权范围内复核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2157984"/>
            <a:ext cx="4069080" cy="932688"/>
          </a:xfrm>
          <a:prstGeom prst="rect">
            <a:avLst/>
          </a:prstGeom>
          <a:solidFill>
            <a:srgbClr val="FFFEFB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2231136"/>
            <a:ext cx="384962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账单异常仅是线索；转账为模拟银行内部CNY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090672"/>
            <a:ext cx="1417320" cy="932688"/>
          </a:xfrm>
          <a:prstGeom prst="rect">
            <a:avLst/>
          </a:prstGeom>
          <a:solidFill>
            <a:srgbClr val="E7EEF0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163824"/>
            <a:ext cx="119786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D786A"/>
                </a:solidFill>
                <a:latin typeface="Microsoft YaHei"/>
              </a:rPr>
              <a:t>卡片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3090672"/>
            <a:ext cx="2331720" cy="932688"/>
          </a:xfrm>
          <a:prstGeom prst="rect">
            <a:avLst/>
          </a:prstGeom>
          <a:solidFill>
            <a:srgbClr val="E7EEF0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58568" y="3163824"/>
            <a:ext cx="2112263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查询脱敏数据；无写工具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3090672"/>
            <a:ext cx="2880360" cy="932688"/>
          </a:xfrm>
          <a:prstGeom prst="rect">
            <a:avLst/>
          </a:prstGeom>
          <a:solidFill>
            <a:srgbClr val="E7EEF0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3163824"/>
            <a:ext cx="266090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界面发起；卡片写操作需密码再认证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090672"/>
            <a:ext cx="4069080" cy="932688"/>
          </a:xfrm>
          <a:prstGeom prst="rect">
            <a:avLst/>
          </a:prstGeom>
          <a:solidFill>
            <a:srgbClr val="E7EEF0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3163824"/>
            <a:ext cx="384962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不连接真实卡组织或信用记录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023360"/>
            <a:ext cx="1417320" cy="932688"/>
          </a:xfrm>
          <a:prstGeom prst="rect">
            <a:avLst/>
          </a:prstGeom>
          <a:solidFill>
            <a:srgbClr val="FFFEFB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096512"/>
            <a:ext cx="119786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D786A"/>
                </a:solidFill>
                <a:latin typeface="Microsoft YaHei"/>
              </a:rPr>
              <a:t>日期场景计划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48840" y="4023360"/>
            <a:ext cx="2331720" cy="932688"/>
          </a:xfrm>
          <a:prstGeom prst="rect">
            <a:avLst/>
          </a:prstGeom>
          <a:solidFill>
            <a:srgbClr val="FFFEFB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58568" y="4096512"/>
            <a:ext cx="2112263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只读 / 解释；不能创建或下单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4023360"/>
            <a:ext cx="2880360" cy="932688"/>
          </a:xfrm>
          <a:prstGeom prst="rect">
            <a:avLst/>
          </a:prstGeom>
          <a:solidFill>
            <a:srgbClr val="FFFEFB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0288" y="4096512"/>
            <a:ext cx="266090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界面保存日期/预算；用户手动点击下单再确认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20" y="4023360"/>
            <a:ext cx="4069080" cy="932688"/>
          </a:xfrm>
          <a:prstGeom prst="rect">
            <a:avLst/>
          </a:prstGeom>
          <a:solidFill>
            <a:srgbClr val="FFFEFB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4096512"/>
            <a:ext cx="384962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创建时校验余额，不冻结或预留资金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4956048"/>
            <a:ext cx="1417320" cy="932688"/>
          </a:xfrm>
          <a:prstGeom prst="rect">
            <a:avLst/>
          </a:prstGeom>
          <a:solidFill>
            <a:srgbClr val="E7EEF0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5029200"/>
            <a:ext cx="119786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D786A"/>
                </a:solidFill>
                <a:latin typeface="Microsoft YaHei"/>
              </a:rPr>
              <a:t>理财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48840" y="4956048"/>
            <a:ext cx="2331720" cy="932688"/>
          </a:xfrm>
          <a:prstGeom prst="rect">
            <a:avLst/>
          </a:prstGeom>
          <a:solidFill>
            <a:srgbClr val="E7EEF0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58568" y="5029200"/>
            <a:ext cx="2112263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查询 / 解释模拟数据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60" y="4956048"/>
            <a:ext cx="2880360" cy="932688"/>
          </a:xfrm>
          <a:prstGeom prst="rect">
            <a:avLst/>
          </a:prstGeom>
          <a:solidFill>
            <a:srgbClr val="E7EEF0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90288" y="5029200"/>
            <a:ext cx="266090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界面申购/赎回并逐笔确认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60920" y="4956048"/>
            <a:ext cx="4069080" cy="932688"/>
          </a:xfrm>
          <a:prstGeom prst="rect">
            <a:avLst/>
          </a:prstGeom>
          <a:solidFill>
            <a:srgbClr val="E7EEF0"/>
          </a:solidFill>
          <a:ln w="762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70648" y="5029200"/>
            <a:ext cx="3849624" cy="7863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E2C33"/>
                </a:solidFill>
                <a:latin typeface="Microsoft YaHei"/>
              </a:rPr>
              <a:t>不连接真实产品，不保证收益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6016752"/>
            <a:ext cx="10698480" cy="246888"/>
          </a:xfrm>
          <a:prstGeom prst="rect">
            <a:avLst/>
          </a:prstGeom>
          <a:solidFill>
            <a:srgbClr val="F4E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536" y="6035040"/>
            <a:ext cx="104241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2C33"/>
                </a:solidFill>
                <a:latin typeface="Microsoft YaHei"/>
              </a:rPr>
              <a:t>“Agent只读”不等于“系统不可办理”：用户仍可在业务界面完成明确写操作。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13232" y="6455664"/>
            <a:ext cx="10762488" cy="0"/>
          </a:xfrm>
          <a:prstGeom prst="line">
            <a:avLst/>
          </a:prstGeom>
          <a:ln w="889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31520" y="6510528"/>
            <a:ext cx="804672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6F70"/>
                </a:solidFill>
                <a:latin typeface="Microsoft YaHei"/>
              </a:rPr>
              <a:t>AI-BANKING  |  本地模拟 · 虚构数据 · 脚本化演示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501384"/>
            <a:ext cx="8412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6F70"/>
                </a:solidFill>
                <a:latin typeface="Microsoft YaHe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201168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786A"/>
                </a:solidFill>
                <a:latin typeface="Microsoft YaHei"/>
              </a:rPr>
              <a:t>03 / 系统链路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C33"/>
                </a:solidFill>
                <a:latin typeface="Microsoft YaHei"/>
              </a:rPr>
              <a:t>从提问到记账，经过确定性的应用检查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89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6F70"/>
                </a:solidFill>
                <a:latin typeface="Microsoft YaHei"/>
              </a:rPr>
              <a:t>模型提出受限意图；身份、对象、步骤、确认与最终记账由应用和银行服务复核。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13232" y="1389888"/>
            <a:ext cx="10762488" cy="0"/>
          </a:xfrm>
          <a:prstGeom prst="line">
            <a:avLst/>
          </a:prstGeom>
          <a:ln w="1143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31520" y="1609344"/>
            <a:ext cx="5148072" cy="4645152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gent-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399" y="1609344"/>
            <a:ext cx="5114312" cy="46451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36208" y="1746504"/>
            <a:ext cx="493776" cy="493776"/>
          </a:xfrm>
          <a:prstGeom prst="rect">
            <a:avLst/>
          </a:prstGeom>
          <a:solidFill>
            <a:srgbClr val="F4E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54496" y="1801368"/>
            <a:ext cx="45720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4E48"/>
                </a:solidFill>
                <a:latin typeface="Microsoft YaHe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1764792"/>
            <a:ext cx="4224528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C33"/>
                </a:solidFill>
                <a:latin typeface="Microsoft YaHei"/>
              </a:rPr>
              <a:t>请求入口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2112264"/>
            <a:ext cx="422452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26F70"/>
                </a:solidFill>
                <a:latin typeface="Microsoft YaHei"/>
              </a:rPr>
              <a:t>会话身份、Origin/Host、CSRF、长度与格式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2734056"/>
            <a:ext cx="493776" cy="493776"/>
          </a:xfrm>
          <a:prstGeom prst="rect">
            <a:avLst/>
          </a:prstGeom>
          <a:solidFill>
            <a:srgbClr val="F4E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2788920"/>
            <a:ext cx="45720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4E48"/>
                </a:solidFill>
                <a:latin typeface="Microsoft YaHe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2752344"/>
            <a:ext cx="4224528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C33"/>
                </a:solidFill>
                <a:latin typeface="Microsoft YaHei"/>
              </a:rPr>
              <a:t>每次工具调用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1152" y="3099816"/>
            <a:ext cx="422452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26F70"/>
                </a:solidFill>
                <a:latin typeface="Microsoft YaHei"/>
              </a:rPr>
              <a:t>白名单、参数Schema、本人数据归属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3721608"/>
            <a:ext cx="493776" cy="493776"/>
          </a:xfrm>
          <a:prstGeom prst="rect">
            <a:avLst/>
          </a:prstGeom>
          <a:solidFill>
            <a:srgbClr val="F4E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3776472"/>
            <a:ext cx="45720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4E48"/>
                </a:solidFill>
                <a:latin typeface="Microsoft YaHei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3739896"/>
            <a:ext cx="4224528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C33"/>
                </a:solidFill>
                <a:latin typeface="Microsoft YaHei"/>
              </a:rPr>
              <a:t>意图与任务约束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4087368"/>
            <a:ext cx="422452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26F70"/>
                </a:solidFill>
                <a:latin typeface="Microsoft YaHei"/>
              </a:rPr>
              <a:t>固定步骤、对象/金额、状态和幂等约束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4709160"/>
            <a:ext cx="493776" cy="493776"/>
          </a:xfrm>
          <a:prstGeom prst="rect">
            <a:avLst/>
          </a:prstGeom>
          <a:solidFill>
            <a:srgbClr val="F4E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4764024"/>
            <a:ext cx="45720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4E48"/>
                </a:solidFill>
                <a:latin typeface="Microsoft YaHei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4727448"/>
            <a:ext cx="4224528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C33"/>
                </a:solidFill>
                <a:latin typeface="Microsoft YaHei"/>
              </a:rPr>
              <a:t>批准与执行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5074920"/>
            <a:ext cx="422452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26F70"/>
                </a:solidFill>
                <a:latin typeface="Microsoft YaHei"/>
              </a:rPr>
              <a:t>逐笔确认或范围内预授权；SQLite事务复核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6208" y="5760720"/>
            <a:ext cx="4892040" cy="438912"/>
          </a:xfrm>
          <a:prstGeom prst="rect">
            <a:avLst/>
          </a:prstGeom>
          <a:solidFill>
            <a:srgbClr val="2D7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512" y="5852160"/>
            <a:ext cx="4608576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EFB"/>
                </a:solidFill>
                <a:latin typeface="Microsoft YaHei"/>
              </a:rPr>
              <a:t>查询返回数据  ·  操作结果回填  ·  账本回执为准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3232" y="6455664"/>
            <a:ext cx="10762488" cy="0"/>
          </a:xfrm>
          <a:prstGeom prst="line">
            <a:avLst/>
          </a:prstGeom>
          <a:ln w="889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6510528"/>
            <a:ext cx="804672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6F70"/>
                </a:solidFill>
                <a:latin typeface="Microsoft YaHei"/>
              </a:rPr>
              <a:t>AI-BANKING  |  本地模拟 · 虚构数据 · 脚本化演示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01384"/>
            <a:ext cx="8412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6F70"/>
                </a:solidFill>
                <a:latin typeface="Microsoft YaHe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201168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786A"/>
                </a:solidFill>
                <a:latin typeface="Microsoft YaHei"/>
              </a:rPr>
              <a:t>04 / 可解释账单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C33"/>
                </a:solidFill>
                <a:latin typeface="Microsoft YaHei"/>
              </a:rPr>
              <a:t>异常是线索，不是欺诈结论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89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6F70"/>
                </a:solidFill>
                <a:latin typeface="Microsoft YaHei"/>
              </a:rPr>
              <a:t>演示中的餐饮支出为 ¥200；历史同类流水中位数为 ¥20。用户仍需核对原始凭证。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13232" y="1389888"/>
            <a:ext cx="10762488" cy="0"/>
          </a:xfrm>
          <a:prstGeom prst="line">
            <a:avLst/>
          </a:prstGeom>
          <a:ln w="1143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31520" y="1664208"/>
            <a:ext cx="6199632" cy="4315968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anomaly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69542"/>
            <a:ext cx="6199632" cy="4305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78624" y="1883664"/>
            <a:ext cx="53035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66B2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0416" y="1883664"/>
            <a:ext cx="30632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C33"/>
                </a:solidFill>
                <a:latin typeface="Microsoft YaHei"/>
              </a:rPr>
              <a:t>规则提示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6" y="2295144"/>
            <a:ext cx="3136392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26F70"/>
                </a:solidFill>
                <a:latin typeface="Microsoft YaHei"/>
              </a:rPr>
              <a:t>本期支出相对等长前期区间明显变化。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78624" y="3118104"/>
            <a:ext cx="53035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66B2F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0416" y="3118104"/>
            <a:ext cx="30632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C33"/>
                </a:solidFill>
                <a:latin typeface="Microsoft YaHei"/>
              </a:rPr>
              <a:t>原始凭证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0416" y="3529584"/>
            <a:ext cx="3136392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26F70"/>
                </a:solidFill>
                <a:latin typeface="Microsoft YaHei"/>
              </a:rPr>
              <a:t>展开账户、商户、时间和金额流水。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78624" y="4352544"/>
            <a:ext cx="53035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66B2F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0416" y="4352544"/>
            <a:ext cx="30632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C33"/>
                </a:solidFill>
                <a:latin typeface="Microsoft YaHei"/>
              </a:rPr>
              <a:t>用户判断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0416" y="4764024"/>
            <a:ext cx="3136392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26F70"/>
                </a:solidFill>
                <a:latin typeface="Microsoft YaHei"/>
              </a:rPr>
              <a:t>正常消费也可能触发；不把线索说成欺诈。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8624" y="5705856"/>
            <a:ext cx="4160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84E48"/>
                </a:solidFill>
                <a:latin typeface="Microsoft YaHei"/>
              </a:rPr>
              <a:t>来源：虚构账本与确定性规则，不是模型评测结果。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232" y="6455664"/>
            <a:ext cx="10762488" cy="0"/>
          </a:xfrm>
          <a:prstGeom prst="line">
            <a:avLst/>
          </a:prstGeom>
          <a:ln w="889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6510528"/>
            <a:ext cx="804672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6F70"/>
                </a:solidFill>
                <a:latin typeface="Microsoft YaHei"/>
              </a:rPr>
              <a:t>AI-BANKING  |  本地模拟 · 虚构数据 · 脚本化演示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01384"/>
            <a:ext cx="8412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6F70"/>
                </a:solidFill>
                <a:latin typeface="Microsoft YaHe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201168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786A"/>
                </a:solidFill>
                <a:latin typeface="Microsoft YaHei"/>
              </a:rPr>
              <a:t>05 / 订阅与固定工作流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C33"/>
                </a:solidFill>
                <a:latin typeface="Microsoft YaHei"/>
              </a:rPr>
              <a:t>订阅要先核对，固定联动也逐步确认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89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6F70"/>
                </a:solidFill>
                <a:latin typeface="Microsoft YaHei"/>
              </a:rPr>
              <a:t>下方截图展示“取消所选订阅后转固定金额”，不是生日/纪念日日期计划。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13232" y="1389888"/>
            <a:ext cx="10762488" cy="0"/>
          </a:xfrm>
          <a:prstGeom prst="line">
            <a:avLst/>
          </a:prstGeom>
          <a:ln w="1143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31520" y="1664208"/>
            <a:ext cx="5212080" cy="3621024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subscription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64970"/>
            <a:ext cx="5212080" cy="3619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45936" y="1664208"/>
            <a:ext cx="4983480" cy="3913632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2-workflow-comple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6" y="1664208"/>
            <a:ext cx="4696358" cy="39136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394960"/>
            <a:ext cx="50292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C33"/>
                </a:solidFill>
                <a:latin typeface="Microsoft YaHei"/>
              </a:rPr>
              <a:t>周期证据与人工登记确认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5632704"/>
            <a:ext cx="489204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2C33"/>
                </a:solidFill>
                <a:latin typeface="Microsoft YaHei"/>
              </a:rPr>
              <a:t>固定工作流的模拟后端回执（2/2步）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998464"/>
            <a:ext cx="10607040" cy="256032"/>
          </a:xfrm>
          <a:prstGeom prst="rect">
            <a:avLst/>
          </a:prstGeom>
          <a:solidFill>
            <a:srgbClr val="F4E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6035040"/>
            <a:ext cx="1035100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2C33"/>
                </a:solidFill>
                <a:latin typeface="Microsoft YaHei"/>
              </a:rPr>
              <a:t>登记不扣款  ·  取消不退款  ·  未来少支出不是当前到账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6455664"/>
            <a:ext cx="10762488" cy="0"/>
          </a:xfrm>
          <a:prstGeom prst="line">
            <a:avLst/>
          </a:prstGeom>
          <a:ln w="889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6510528"/>
            <a:ext cx="804672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6F70"/>
                </a:solidFill>
                <a:latin typeface="Microsoft YaHei"/>
              </a:rPr>
              <a:t>AI-BANKING  |  本地模拟 · 虚构数据 · 脚本化演示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01384"/>
            <a:ext cx="8412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6F70"/>
                </a:solidFill>
                <a:latin typeface="Microsoft YaHe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201168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786A"/>
                </a:solidFill>
                <a:latin typeface="Microsoft YaHei"/>
              </a:rPr>
              <a:t>06 / 日期场景计划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C33"/>
                </a:solidFill>
                <a:latin typeface="Microsoft YaHei"/>
              </a:rPr>
              <a:t>不预留资金，不自动下单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89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6F70"/>
                </a:solidFill>
                <a:latin typeface="Microsoft YaHei"/>
              </a:rPr>
              <a:t>Agent只读/解释计划；计划保存和下单由用户在业务界面发起。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13232" y="1389888"/>
            <a:ext cx="10762488" cy="0"/>
          </a:xfrm>
          <a:prstGeom prst="line">
            <a:avLst/>
          </a:prstGeom>
          <a:ln w="1143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9808" y="1682496"/>
            <a:ext cx="15087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26F70"/>
                </a:solidFill>
                <a:latin typeface="Microsoft YaHei"/>
              </a:rPr>
              <a:t>计划记录仅包含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27632"/>
            <a:ext cx="1572768" cy="438912"/>
          </a:xfrm>
          <a:prstGeom prst="rect">
            <a:avLst/>
          </a:prstGeom>
          <a:solidFill>
            <a:srgbClr val="E7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4288" y="1719072"/>
            <a:ext cx="14447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C33"/>
                </a:solidFill>
                <a:latin typeface="Microsoft YaHei"/>
              </a:rPr>
              <a:t>日期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627632"/>
            <a:ext cx="1572768" cy="438912"/>
          </a:xfrm>
          <a:prstGeom prst="rect">
            <a:avLst/>
          </a:prstGeom>
          <a:solidFill>
            <a:srgbClr val="F4E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5928" y="1719072"/>
            <a:ext cx="14447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C33"/>
                </a:solidFill>
                <a:latin typeface="Microsoft YaHei"/>
              </a:rPr>
              <a:t>预算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468880"/>
            <a:ext cx="3346704" cy="2231136"/>
          </a:xfrm>
          <a:prstGeom prst="rect">
            <a:avLst/>
          </a:prstGeom>
          <a:solidFill>
            <a:srgbClr val="FFFEFB"/>
          </a:solidFill>
          <a:ln w="1143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724912"/>
            <a:ext cx="29443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786A"/>
                </a:solidFill>
                <a:latin typeface="Microsoft YaHei"/>
              </a:rPr>
              <a:t>01  创建计划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2944368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校验当时可用余额。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不冻结、不预留资金。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315968"/>
            <a:ext cx="294436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26F70"/>
                </a:solidFill>
                <a:latin typeface="Microsoft YaHei"/>
              </a:rPr>
              <a:t>界面写入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468880"/>
            <a:ext cx="3346704" cy="2231136"/>
          </a:xfrm>
          <a:prstGeom prst="rect">
            <a:avLst/>
          </a:prstGeom>
          <a:solidFill>
            <a:srgbClr val="FFFEFB"/>
          </a:solidFill>
          <a:ln w="1143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2724912"/>
            <a:ext cx="29443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786A"/>
                </a:solidFill>
                <a:latin typeface="Microsoft YaHei"/>
              </a:rPr>
              <a:t>02  用户决定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3291840"/>
            <a:ext cx="2944368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用户自行查看、判断；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手动点击界面下单按钮。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4315968"/>
            <a:ext cx="294436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26F70"/>
                </a:solidFill>
                <a:latin typeface="Microsoft YaHei"/>
              </a:rPr>
              <a:t>无自动提醒 / 定时触发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468880"/>
            <a:ext cx="3346704" cy="2231136"/>
          </a:xfrm>
          <a:prstGeom prst="rect">
            <a:avLst/>
          </a:prstGeom>
          <a:solidFill>
            <a:srgbClr val="FFFEFB"/>
          </a:solidFill>
          <a:ln w="1143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2724912"/>
            <a:ext cx="294436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786A"/>
                </a:solidFill>
                <a:latin typeface="Microsoft YaHei"/>
              </a:rPr>
              <a:t>03  待确认操作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3291840"/>
            <a:ext cx="2944368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生成待确认操作，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后续仍走确认流程。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4315968"/>
            <a:ext cx="294436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26F70"/>
                </a:solidFill>
                <a:latin typeface="Microsoft YaHei"/>
              </a:rPr>
              <a:t>无外部商户订单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6512" y="3319272"/>
            <a:ext cx="219456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66B2F"/>
                </a:solidFill>
                <a:latin typeface="Microsoft YaHei"/>
              </a:rP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319272"/>
            <a:ext cx="219456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66B2F"/>
                </a:solidFill>
                <a:latin typeface="Microsoft YaHei"/>
              </a:rPr>
              <a:t>&gt;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166360"/>
            <a:ext cx="10661904" cy="822960"/>
          </a:xfrm>
          <a:prstGeom prst="rect">
            <a:avLst/>
          </a:prstGeom>
          <a:solidFill>
            <a:srgbClr val="1E2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5340096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1EA"/>
                </a:solidFill>
                <a:latin typeface="Microsoft YaHei"/>
              </a:rPr>
              <a:t>Agent权限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5303520"/>
            <a:ext cx="866851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EFB"/>
                </a:solidFill>
                <a:latin typeface="Microsoft YaHei"/>
              </a:rPr>
              <a:t>只读 / 解释场景状态  ·  不能创建、修改或下单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6455664"/>
            <a:ext cx="10762488" cy="0"/>
          </a:xfrm>
          <a:prstGeom prst="line">
            <a:avLst/>
          </a:prstGeom>
          <a:ln w="889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31520" y="6510528"/>
            <a:ext cx="804672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6F70"/>
                </a:solidFill>
                <a:latin typeface="Microsoft YaHei"/>
              </a:rPr>
              <a:t>AI-BANKING  |  本地模拟 · 虚构数据 · 脚本化演示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01384"/>
            <a:ext cx="8412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6F70"/>
                </a:solidFill>
                <a:latin typeface="Microsoft YaHe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201168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786A"/>
                </a:solidFill>
                <a:latin typeface="Microsoft YaHei"/>
              </a:rPr>
              <a:t>07 / 权限与确认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C33"/>
                </a:solidFill>
                <a:latin typeface="Microsoft YaHei"/>
              </a:rPr>
              <a:t>审批范围绑定到账户、对象与额度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89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6F70"/>
                </a:solidFill>
                <a:latin typeface="Microsoft YaHei"/>
              </a:rPr>
              <a:t>预授权表单用于受限资金工作流；卡片、日期计划与理财写操作仍由界面发起。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13232" y="1389888"/>
            <a:ext cx="10762488" cy="0"/>
          </a:xfrm>
          <a:prstGeom prst="line">
            <a:avLst/>
          </a:prstGeom>
          <a:ln w="1143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31520" y="1627632"/>
            <a:ext cx="5285232" cy="4407408"/>
          </a:xfrm>
          <a:prstGeom prst="rect">
            <a:avLst/>
          </a:prstGeom>
          <a:solidFill>
            <a:srgbClr val="FFFEFB"/>
          </a:solidFill>
          <a:ln w="10160">
            <a:solidFill>
              <a:srgbClr val="D8D1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4-authorization-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29156"/>
            <a:ext cx="5285232" cy="440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" y="6089904"/>
            <a:ext cx="51206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6F70"/>
                </a:solidFill>
                <a:latin typeface="Microsoft YaHei"/>
              </a:rPr>
              <a:t>图片展示转账/订阅工作流的预授权范围，不代表Agent拥有卡片或理财写权限。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2512" y="1764792"/>
            <a:ext cx="448056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D786A"/>
                </a:solidFill>
                <a:latin typeface="Microsoft YaHei"/>
              </a:rPr>
              <a:t>Agent只读 / 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157984"/>
            <a:ext cx="4480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C33"/>
                </a:solidFill>
                <a:latin typeface="Microsoft YaHei"/>
              </a:rPr>
              <a:t>卡片 · 日期场景计划 · 理财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82512" y="2670048"/>
            <a:ext cx="4910328" cy="0"/>
          </a:xfrm>
          <a:prstGeom prst="line">
            <a:avLst/>
          </a:prstGeom>
          <a:ln w="1016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82512" y="2907792"/>
            <a:ext cx="448056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66B2F"/>
                </a:solidFill>
                <a:latin typeface="Microsoft YaHei"/>
              </a:rPr>
              <a:t>用户界面发起写操作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328416"/>
            <a:ext cx="4572000" cy="10241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C33"/>
                </a:solidFill>
                <a:latin typeface="Microsoft YaHei"/>
              </a:rPr>
              <a:t>卡片变更：密码再认证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C33"/>
                </a:solidFill>
                <a:latin typeface="Microsoft YaHei"/>
              </a:rPr>
              <a:t>日期计划：手动按钮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E2C33"/>
                </a:solidFill>
                <a:latin typeface="Microsoft YaHei"/>
              </a:rPr>
              <a:t>理财申购/赎回：逐笔确认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82512" y="4553712"/>
            <a:ext cx="4910328" cy="0"/>
          </a:xfrm>
          <a:prstGeom prst="line">
            <a:avLst/>
          </a:prstGeom>
          <a:ln w="1016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82512" y="4773168"/>
            <a:ext cx="4480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84E48"/>
                </a:solidFill>
                <a:latin typeface="Microsoft YaHei"/>
              </a:rPr>
              <a:t>确认原则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5193792"/>
            <a:ext cx="4663440" cy="676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26F70"/>
                </a:solidFill>
                <a:latin typeface="Microsoft YaHei"/>
              </a:rPr>
              <a:t>范围、额度、期限与实际操作逐次复核。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26F70"/>
                </a:solidFill>
                <a:latin typeface="Microsoft YaHei"/>
              </a:rPr>
              <a:t>聊天中的“同意”不代替独立批准。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6455664"/>
            <a:ext cx="10762488" cy="0"/>
          </a:xfrm>
          <a:prstGeom prst="line">
            <a:avLst/>
          </a:prstGeom>
          <a:ln w="889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6510528"/>
            <a:ext cx="804672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6F70"/>
                </a:solidFill>
                <a:latin typeface="Microsoft YaHei"/>
              </a:rPr>
              <a:t>AI-BANKING  |  本地模拟 · 虚构数据 · 脚本化演示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01384"/>
            <a:ext cx="8412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6F70"/>
                </a:solidFill>
                <a:latin typeface="Microsoft YaHe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201168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786A"/>
                </a:solidFill>
                <a:latin typeface="Microsoft YaHei"/>
              </a:rPr>
              <a:t>08 / 验证范围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C33"/>
                </a:solidFill>
                <a:latin typeface="Microsoft YaHei"/>
              </a:rPr>
              <a:t>代码与流程验证，不等于模型总成功率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89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6F70"/>
                </a:solidFill>
                <a:latin typeface="Microsoft YaHei"/>
              </a:rPr>
              <a:t>区分自动化回归、历史模型样本与尚未完成的评估。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13232" y="1389888"/>
            <a:ext cx="10762488" cy="0"/>
          </a:xfrm>
          <a:prstGeom prst="line">
            <a:avLst/>
          </a:prstGeom>
          <a:ln w="1143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31520" y="1901952"/>
            <a:ext cx="3355848" cy="3017520"/>
          </a:xfrm>
          <a:prstGeom prst="rect">
            <a:avLst/>
          </a:prstGeom>
          <a:solidFill>
            <a:srgbClr val="E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76272"/>
            <a:ext cx="2990088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E2C33"/>
                </a:solidFill>
                <a:latin typeface="Microsoft YaHei"/>
              </a:rPr>
              <a:t>235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90088"/>
            <a:ext cx="2990088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C33"/>
                </a:solidFill>
                <a:latin typeface="Microsoft YaHei"/>
              </a:rPr>
              <a:t>自动化测试通过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2990088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6F70"/>
                </a:solidFill>
                <a:latin typeface="Microsoft YaHei"/>
              </a:rPr>
              <a:t>全量 pytest 235 passed，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6F70"/>
                </a:solidFill>
                <a:latin typeface="Microsoft YaHei"/>
              </a:rPr>
              <a:t>其中前端浏览器冒烟1 passed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1901952"/>
            <a:ext cx="3355848" cy="3017520"/>
          </a:xfrm>
          <a:prstGeom prst="rect">
            <a:avLst/>
          </a:prstGeom>
          <a:solidFill>
            <a:srgbClr val="F4E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176272"/>
            <a:ext cx="2990088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E2C33"/>
                </a:solidFill>
                <a:latin typeface="Microsoft YaHei"/>
              </a:rPr>
              <a:t>35 / 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990088"/>
            <a:ext cx="2990088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C33"/>
                </a:solidFill>
                <a:latin typeface="Microsoft YaHei"/>
              </a:rPr>
              <a:t>历史固定样本结构检查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3749039"/>
            <a:ext cx="2990088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6F70"/>
                </a:solidFill>
                <a:latin typeface="Microsoft YaHei"/>
              </a:rPr>
              <a:t>1条被输出预算保护拦截；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6F70"/>
                </a:solidFill>
                <a:latin typeface="Microsoft YaHei"/>
              </a:rPr>
              <a:t>不是模型业务成功率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901952"/>
            <a:ext cx="3355848" cy="3017520"/>
          </a:xfrm>
          <a:prstGeom prst="rect">
            <a:avLst/>
          </a:prstGeom>
          <a:solidFill>
            <a:srgbClr val="F4E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2176272"/>
            <a:ext cx="2990088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E2C33"/>
                </a:solidFill>
                <a:latin typeface="Microsoft YaHei"/>
              </a:rPr>
              <a:t>未配置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990088"/>
            <a:ext cx="2990088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C33"/>
                </a:solidFill>
                <a:latin typeface="Microsoft YaHei"/>
              </a:rPr>
              <a:t>真实模型未配置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3749039"/>
            <a:ext cx="2990088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6F70"/>
                </a:solidFill>
                <a:latin typeface="Microsoft YaHei"/>
              </a:rPr>
              <a:t>专项评测未完成；独立队友审查、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26F70"/>
                </a:solidFill>
                <a:latin typeface="Microsoft YaHei"/>
              </a:rPr>
              <a:t>Python 3.12与全新机器仍未验证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85232"/>
            <a:ext cx="10698480" cy="713232"/>
          </a:xfrm>
          <a:prstGeom prst="rect">
            <a:avLst/>
          </a:prstGeom>
          <a:solidFill>
            <a:srgbClr val="1E2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5458968"/>
            <a:ext cx="102412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EFB"/>
                </a:solidFill>
                <a:latin typeface="Microsoft YaHei"/>
              </a:rPr>
              <a:t>测试中的模型HTTP由替身提供；截图为虚构数据与脚本化回复，不证明实时供应商能力。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3232" y="6455664"/>
            <a:ext cx="10762488" cy="0"/>
          </a:xfrm>
          <a:prstGeom prst="line">
            <a:avLst/>
          </a:prstGeom>
          <a:ln w="889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6510528"/>
            <a:ext cx="804672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6F70"/>
                </a:solidFill>
                <a:latin typeface="Microsoft YaHei"/>
              </a:rPr>
              <a:t>AI-BANKING  |  本地模拟 · 虚构数据 · 脚本化演示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01384"/>
            <a:ext cx="8412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6F70"/>
                </a:solidFill>
                <a:latin typeface="Microsoft YaHe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201168"/>
            <a:ext cx="10789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786A"/>
                </a:solidFill>
                <a:latin typeface="Microsoft YaHei"/>
              </a:rPr>
              <a:t>09 / 结论与提交边界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2C33"/>
                </a:solidFill>
                <a:latin typeface="Microsoft YaHei"/>
              </a:rPr>
              <a:t>明确展示已验证内容，也标出待补项目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7899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6F70"/>
                </a:solidFill>
                <a:latin typeface="Microsoft YaHei"/>
              </a:rPr>
              <a:t>当前是材料审校稿，不是正式提交包。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13232" y="1389888"/>
            <a:ext cx="10762488" cy="0"/>
          </a:xfrm>
          <a:prstGeom prst="line">
            <a:avLst/>
          </a:prstGeom>
          <a:ln w="1143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31520" y="1737360"/>
            <a:ext cx="5175504" cy="3456432"/>
          </a:xfrm>
          <a:prstGeom prst="rect">
            <a:avLst/>
          </a:prstGeom>
          <a:solidFill>
            <a:srgbClr val="E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1737360"/>
            <a:ext cx="5175504" cy="3456432"/>
          </a:xfrm>
          <a:prstGeom prst="rect">
            <a:avLst/>
          </a:prstGeom>
          <a:solidFill>
            <a:srgbClr val="F4E9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4617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D786A"/>
                </a:solidFill>
                <a:latin typeface="Microsoft YaHei"/>
              </a:rPr>
              <a:t>可如实展示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633472"/>
            <a:ext cx="4572000" cy="1737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账单线索可展开到原始流水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受控订阅/转账工作流逐步确认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日期计划仅存日期/预算且不预留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卡片/场景/理财Agent只读，写操作走界面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617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66B2F"/>
                </a:solidFill>
                <a:latin typeface="Microsoft YaHei"/>
              </a:rPr>
              <a:t>提交前待完成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33472"/>
            <a:ext cx="4572000" cy="1737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补齐团队、分工与签署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完成独立队友审查和专项模型评测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按冻结版本重打包源码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C33"/>
                </a:solidFill>
                <a:latin typeface="Microsoft YaHei"/>
              </a:rPr>
              <a:t>从修订源稿重导并复核技术/安全PDF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468112"/>
            <a:ext cx="10680192" cy="566928"/>
          </a:xfrm>
          <a:prstGeom prst="rect">
            <a:avLst/>
          </a:prstGeom>
          <a:solidFill>
            <a:srgbClr val="1E2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5577840"/>
            <a:ext cx="1020470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EFB"/>
                </a:solidFill>
                <a:latin typeface="Microsoft YaHei"/>
              </a:rPr>
              <a:t>证据可追溯  ·  权限可核对  ·  操作可拒绝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6455664"/>
            <a:ext cx="10762488" cy="0"/>
          </a:xfrm>
          <a:prstGeom prst="line">
            <a:avLst/>
          </a:prstGeom>
          <a:ln w="8890">
            <a:solidFill>
              <a:srgbClr val="D8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6510528"/>
            <a:ext cx="8046720" cy="1737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6F70"/>
                </a:solidFill>
                <a:latin typeface="Microsoft YaHei"/>
              </a:rPr>
              <a:t>AI-BANKING  |  本地模拟 · 虚构数据 · 脚本化演示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01384"/>
            <a:ext cx="8412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6F70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AI-Banking 受约束的个人银行助手</dc:title>
  <dc:subject>竞赛答辩演示</dc:subject>
  <dc:creator/>
  <cp:keywords>AI-Banking, 模拟银行, 受控操作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