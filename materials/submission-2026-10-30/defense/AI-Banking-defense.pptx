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9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04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做的是一个可以实际运行的个人模拟银行助手。用户可以先问清账单和对象，再决定是否办理业务，最后核对后端回执。我们把自然语言交互接入同一个工作台，并让每次资金动作都经过明确的权限和状态检查。接下来沿着一次整理账单到完成转账的路径，介绍产品与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查询走到代办，最容易出错的是对象、依据和结果。账单解释需要回到原流水；同名收款人不能由模型随意选择；一句成功也不能替代银行状态。因此产品把查询结果、操作确认和执行回执分别呈现。图中两位张明分别带备注和尾号，用户可以在付款前确认究竟转给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作台覆盖账单、订阅、转账，以及模拟卡片、理财和日期计划。这里区分产品能力和模型权限：Agent可以组合12个类型化工具查询数据，或准备转账和订阅取消意图。卡片、理财和日期计划的写操作由用户在界面发起，模型负责查询与解释。每个入口的边界都与后端能力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采用原生Web、FastAPI和SQLite，只有一个主Agent。每轮请求先装配问题、历史和银行状态，再由模型选择工具。安全检查分布在入口、工具调用、意图准备和批准执行四个位置，均由确定性代码实施。查询可以直接返回数据；资金意图则继续经过人工批准或用户指定的有效预授权，最终在银行事务中复核和记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账单分析先保证口径可以核对。页面结束日期包含当日，API采用左闭右开区间，并在同一事务读取本期与前一等长区间。规则同时提供固定大额提示和相对历史中位数线索。图中200元餐饮相对前期20元中位数触发提示，用户可以展开原始流水。这是可解释的核对线索，不是欺诈判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这条演示从周期扣费证据开始。识别结果只是候选，用户核对后才登记。随后选择订阅、账户、收款人和固定金额，预览影响并保存方案。保存本身不付款，每一步仍要批准。后端强制步骤顺序、对象与金额，成功后才继续下一步。图中的2/2回执来自实际模拟执行器；未来减少的订阅支出不会被当作当前到账资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日期计划和刚才的固定联动是两个入口。用户为生日或纪念日保存日期与预算，创建时校验当时余额，但不会冻结或预留资金。到可操作时间后仍由用户手动点击下单，再生成待确认的模拟转账。Agent可以解释计划状态，但不能创建或下单。卡片和理财也遵循界面办理与后端检查配合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登录身份和资金权限是分开的。默认模式下，确认挑战绑定当前会话、原操作和准确参数，关闭窗口不会执行。用户也可以创建范围明确的预授权，执行时仍要复核对象、额度、余额与期限。遇到结果未知，系统保留预占并按原编号核对，防止重新付款。密码、Cookie和确认凭证不进入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验证证据分三类展示。Windows和Python 3.14.6的完整自动化回归为235项，包含一项前端浏览器冒烟；新建Python 3.13环境完成锁文件安装、依赖一致性和39项定向测试；10项列示人工流程由项目负责人确认通过。历史真实模型样本另有记录，结构检查与语义结论分别使用，不把这些数字换算成模型业务成功率。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-Banking把金融意图落实到可解释查询、明确对象、受控执行和可核对回执。核心价值是让自然语言助手与确定性的资金后端协同工作，并保持操作状态可以恢复。我们以本地模拟银行完成这条业务闭环，配套源码、部署说明和验证记录，便于评审运行和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附录A：每轮先组装系统约束、工具与状态，历史超过12轮或预算紧张时摘录旧轮；工具结果过长截断并提示分页。预算不足时停止新增操作，不继续冒险执行。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附录B：这是390×844的浏览器视口截图，不是真实手机设备测试结果；界面为同源原生Web，窄屏下流程与确认同样逐笔确认。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064" y="457200"/>
            <a:ext cx="420624" cy="420624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548640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DF9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45720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AI-BANKING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9494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本地模拟银行原型 · 独立虚构数据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60704"/>
            <a:ext cx="1116756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AI Banking 让金融意图有依据 让执行有边界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2064" y="1865376"/>
            <a:ext cx="914400" cy="0"/>
          </a:xfrm>
          <a:prstGeom prst="line">
            <a:avLst/>
          </a:prstGeom>
          <a:ln w="31750">
            <a:solidFill>
              <a:srgbClr val="9C6A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2048256"/>
            <a:ext cx="3977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一个可以实际运行的个人模拟银行助手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898648"/>
            <a:ext cx="146304" cy="27432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798064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账单分析、订阅管理与受控转账的一体化工作台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611879"/>
            <a:ext cx="146304" cy="27432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511296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dirty="0" err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自然语言提出需求，后端核验权限与资金事实</a:t>
            </a:r>
            <a:endParaRPr sz="1650" b="0" dirty="0">
              <a:solidFill>
                <a:srgbClr val="20323D"/>
              </a:solidFill>
              <a:latin typeface="Arial"/>
              <a:ea typeface="Microsoft YaHei"/>
              <a:cs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" y="4325112"/>
            <a:ext cx="146304" cy="27432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4224528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本地模拟银行原型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5138928"/>
            <a:ext cx="3977639" cy="207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文档版本</a:t>
            </a:r>
            <a:r>
              <a:rPr sz="11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v1.2 · </a:t>
            </a:r>
            <a:r>
              <a:rPr sz="11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功能基线</a:t>
            </a:r>
            <a:r>
              <a:rPr sz="11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9389868 · </a:t>
            </a:r>
            <a:r>
              <a:rPr sz="11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整理日期</a:t>
            </a:r>
            <a:r>
              <a:rPr sz="11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2026-10-31</a:t>
            </a:r>
          </a:p>
        </p:txBody>
      </p:sp>
      <p:pic>
        <p:nvPicPr>
          <p:cNvPr id="16" name="Picture 15" descr="02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621" y="1920240"/>
            <a:ext cx="5661964" cy="3931920"/>
          </a:xfrm>
          <a:prstGeom prst="rect">
            <a:avLst/>
          </a:prstGeom>
          <a:effectLst/>
        </p:spPr>
      </p:pic>
      <p:sp>
        <p:nvSpPr>
          <p:cNvPr id="17" name="Rectangle 16"/>
          <p:cNvSpPr/>
          <p:nvPr/>
        </p:nvSpPr>
        <p:spPr>
          <a:xfrm>
            <a:off x="5430621" y="1920240"/>
            <a:ext cx="5661964" cy="3931920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5961888"/>
            <a:ext cx="68305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个人财务概览 · 独立虚构数据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02 / 用户问题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金融代办需要把对象和结果核对清楚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查询结果、操作确认与执行回执分别呈现，模型文字不替代银行状态。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66928" y="2176272"/>
            <a:ext cx="420624" cy="420624"/>
          </a:xfrm>
          <a:prstGeom prst="rect">
            <a:avLst/>
          </a:prstGeom>
          <a:noFill/>
          <a:ln w="12700">
            <a:solidFill>
              <a:srgbClr val="2F7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676656" y="2286000"/>
            <a:ext cx="201168" cy="0"/>
          </a:xfrm>
          <a:prstGeom prst="line">
            <a:avLst/>
          </a:prstGeom>
          <a:ln w="12700">
            <a:solidFill>
              <a:srgbClr val="2F7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6656" y="2377440"/>
            <a:ext cx="201168" cy="0"/>
          </a:xfrm>
          <a:prstGeom prst="line">
            <a:avLst/>
          </a:prstGeom>
          <a:ln w="12700">
            <a:solidFill>
              <a:srgbClr val="2F7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" y="2468880"/>
            <a:ext cx="128016" cy="0"/>
          </a:xfrm>
          <a:prstGeom prst="line">
            <a:avLst/>
          </a:prstGeom>
          <a:ln w="12700">
            <a:solidFill>
              <a:srgbClr val="2F7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07008" y="21031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看账单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487168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要能展开原始流水与判断依据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07008" y="2980944"/>
            <a:ext cx="4462272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8640" y="3364992"/>
            <a:ext cx="292608" cy="292608"/>
          </a:xfrm>
          <a:prstGeom prst="ellipse">
            <a:avLst/>
          </a:prstGeom>
          <a:noFill/>
          <a:ln w="12700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364992"/>
            <a:ext cx="292608" cy="292608"/>
          </a:xfrm>
          <a:prstGeom prst="ellipse">
            <a:avLst/>
          </a:prstGeom>
          <a:noFill/>
          <a:ln w="12700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32552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找对象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639312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同名收款人需要备注和尾号澄清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07008" y="4133087"/>
            <a:ext cx="4462272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6928" y="4480559"/>
            <a:ext cx="420624" cy="420624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203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676656" y="4690872"/>
            <a:ext cx="91440" cy="91440"/>
          </a:xfrm>
          <a:prstGeom prst="line">
            <a:avLst/>
          </a:prstGeom>
          <a:ln w="12700">
            <a:solidFill>
              <a:srgbClr val="2032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68096" y="4599431"/>
            <a:ext cx="109728" cy="182881"/>
          </a:xfrm>
          <a:prstGeom prst="line">
            <a:avLst/>
          </a:prstGeom>
          <a:ln w="12700">
            <a:solidFill>
              <a:srgbClr val="2032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07008" y="4407407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做操作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91455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批准内容与最终回执分开核对</a:t>
            </a:r>
          </a:p>
        </p:txBody>
      </p:sp>
      <p:pic>
        <p:nvPicPr>
          <p:cNvPr id="23" name="Picture 22" descr="06-payees.png"/>
          <p:cNvPicPr>
            <a:picLocks noChangeAspect="1"/>
          </p:cNvPicPr>
          <p:nvPr/>
        </p:nvPicPr>
        <p:blipFill>
          <a:blip r:embed="rId3"/>
          <a:srcRect l="20833" t="3000" r="34028" b="52000"/>
          <a:stretch>
            <a:fillRect/>
          </a:stretch>
        </p:blipFill>
        <p:spPr>
          <a:xfrm>
            <a:off x="6236208" y="2011680"/>
            <a:ext cx="5349240" cy="3703320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6236208" y="2011680"/>
            <a:ext cx="5349240" cy="3703320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5815584"/>
            <a:ext cx="5532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同名收款人以备注和尾号区分 · 界面截图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03 / 能力地图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一个工作台连接六类模拟银行场景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区分产品能力与模型权限：Agent 查询或准备有限意图，写操作由界面发起。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2064" y="1938528"/>
            <a:ext cx="3557016" cy="15179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1031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账单洞察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87168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本期与前一等长区间同口径汇总，异常线索可回到原始流水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35808"/>
            <a:ext cx="549656" cy="274320"/>
          </a:xfrm>
          <a:prstGeom prst="roundRect">
            <a:avLst>
              <a:gd name="adj" fmla="val 4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3086100"/>
            <a:ext cx="549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57016" cy="15179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21031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订阅管理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487168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识别周期扣费候选，用户核对后登记；取消需逐步确认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3035808"/>
            <a:ext cx="549656" cy="274320"/>
          </a:xfrm>
          <a:prstGeom prst="roundRect">
            <a:avLst>
              <a:gd name="adj" fmla="val 4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3086100"/>
            <a:ext cx="549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6519" y="3035808"/>
            <a:ext cx="806704" cy="274320"/>
          </a:xfrm>
          <a:prstGeom prst="roundRect">
            <a:avLst>
              <a:gd name="adj" fmla="val 40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6519" y="3086100"/>
            <a:ext cx="806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意图准备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938528"/>
            <a:ext cx="3557016" cy="15179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转账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87168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准备对象与金额的转账意图，执行前复核额度与余额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035808"/>
            <a:ext cx="549656" cy="274320"/>
          </a:xfrm>
          <a:prstGeom prst="roundRect">
            <a:avLst>
              <a:gd name="adj" fmla="val 4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3086100"/>
            <a:ext cx="549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0424" y="3035808"/>
            <a:ext cx="806704" cy="274320"/>
          </a:xfrm>
          <a:prstGeom prst="roundRect">
            <a:avLst>
              <a:gd name="adj" fmla="val 40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0424" y="3086100"/>
            <a:ext cx="806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意图准备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3584448"/>
            <a:ext cx="3557016" cy="15179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3749039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卡片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133087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Agent 只读脱敏卡信息；申请与调额需密码再认证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681728"/>
            <a:ext cx="549656" cy="274320"/>
          </a:xfrm>
          <a:prstGeom prst="roundRect">
            <a:avLst>
              <a:gd name="adj" fmla="val 4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732020"/>
            <a:ext cx="549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2616" y="4681728"/>
            <a:ext cx="806704" cy="274320"/>
          </a:xfrm>
          <a:prstGeom prst="roundRect">
            <a:avLst>
              <a:gd name="adj" fmla="val 40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2616" y="4732020"/>
            <a:ext cx="806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界面办理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584448"/>
            <a:ext cx="3557016" cy="15179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17136" y="3749039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理财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133087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模拟产品目录只读；申购与赎回由界面逐笔确认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17136" y="4681728"/>
            <a:ext cx="549656" cy="274320"/>
          </a:xfrm>
          <a:prstGeom prst="roundRect">
            <a:avLst>
              <a:gd name="adj" fmla="val 4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17136" y="4732020"/>
            <a:ext cx="549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76519" y="4681728"/>
            <a:ext cx="806704" cy="274320"/>
          </a:xfrm>
          <a:prstGeom prst="roundRect">
            <a:avLst>
              <a:gd name="adj" fmla="val 40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76519" y="4732020"/>
            <a:ext cx="806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界面办理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2" y="3584448"/>
            <a:ext cx="3557016" cy="15179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3749039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日期计划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133087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保存日期与预算，用户手动下单；Agent 不可创建或下单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681728"/>
            <a:ext cx="549656" cy="274320"/>
          </a:xfrm>
          <a:prstGeom prst="roundRect">
            <a:avLst>
              <a:gd name="adj" fmla="val 40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4732020"/>
            <a:ext cx="5496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80424" y="4681728"/>
            <a:ext cx="806704" cy="274320"/>
          </a:xfrm>
          <a:prstGeom prst="roundRect">
            <a:avLst>
              <a:gd name="adj" fmla="val 40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80424" y="4732020"/>
            <a:ext cx="806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界面办理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" y="5285232"/>
            <a:ext cx="11167567" cy="928116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41324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Agent </a:t>
            </a:r>
            <a:r>
              <a:rPr sz="1400" b="1" dirty="0" err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通过</a:t>
            </a:r>
            <a:r>
              <a:rPr sz="1400" b="1" dirty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 12 </a:t>
            </a:r>
            <a:r>
              <a:rPr sz="1400" b="1" dirty="0" err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个类型化工具查询数据或准备有限意图，写操作入口与后端能力一致</a:t>
            </a:r>
            <a:endParaRPr sz="1400" b="1" dirty="0">
              <a:solidFill>
                <a:srgbClr val="20323D"/>
              </a:solidFill>
              <a:latin typeface="Arial"/>
              <a:ea typeface="Microsoft YaHei"/>
              <a:cs typeface="Microsoft YaHei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list_accounts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get_transactions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get_billing_summary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get_billing_entries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list_payees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find_payees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list_subscriptions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prepare_subscription_cancellation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prepare_transfer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get_operation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list_wealth_products</a:t>
            </a:r>
            <a:r>
              <a:rPr sz="10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10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list_cards</a:t>
            </a:r>
            <a:endParaRPr sz="1050" b="0" dirty="0">
              <a:solidFill>
                <a:srgbClr val="5E6E73"/>
              </a:solidFill>
              <a:latin typeface="Arial"/>
              <a:ea typeface="Microsoft YaHei"/>
              <a:cs typeface="Microsoft YaHei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04 /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模型提出意图 后端逐次复核再执行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原生 Web + FastAPI + SQLite，单进程内的职责模块；安全检查由确定性代码实施，没有额外审核模型。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4944" y="2139696"/>
            <a:ext cx="0" cy="3616451"/>
          </a:xfrm>
          <a:prstGeom prst="line">
            <a:avLst/>
          </a:prstGeom>
          <a:ln w="12700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57784" y="191109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2F7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196596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浏览器 · 同源 Web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用户问题、界面选择、任务与操作进度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24277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248259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55164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FastAPI 身份入口（A）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会话身份 · Origin/Host · CSRF（写请求）· 输入大小与格式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29443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2F7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" y="299923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971800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每轮上下文装配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固定系统约束 + 状态 + 最新问题；历史超 12 轮 → 有界摘录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" y="346100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2F7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" y="35158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488436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单主 Agent / 模型工具循环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理解问题 → 选择工具 → 读取返回，可继续调用、澄清或回答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" y="397763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" y="40325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005072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B 每次工具调用前的安全校验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会话有效性 · 工具白名单 · Pydantic 参数 · 本人对象归属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" y="449427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" y="45491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521708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C 意图准备 / 任务约束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转账、取消订阅；固定方案的对象 / 金额 / 顺序 / 幂等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" y="50109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" y="50657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038344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D 批准与执行前再次复核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逐笔挑战或用户指定预授权 → 额度 / 余额 / 期限 → SQLite 事务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" y="55275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7F4ED"/>
          </a:solidFill>
          <a:ln w="13970">
            <a:solidFill>
              <a:srgbClr val="2F7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" y="55824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5554979"/>
            <a:ext cx="6858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回执</a:t>
            </a: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 ·  双边记账、原子转账；结果回到 Agent，最终以操作与账本为准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865376"/>
            <a:ext cx="3447288" cy="932688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94192" y="20482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2121408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2029968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请求入口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2322576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会话身份、Origin/Host、CSRF、输入长度与格式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907791"/>
            <a:ext cx="3447288" cy="932688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94192" y="3090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94192" y="3163824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06256" y="3072384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每次工具调用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6256" y="3364991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工具白名单、参数 Schema、本人数据归属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950207"/>
            <a:ext cx="3447288" cy="932688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394192" y="413308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94192" y="4206240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4114799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意图与任务约束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6256" y="4407407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固定步骤、对象与金额、状态与幂等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4992623"/>
            <a:ext cx="3447288" cy="932688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94192" y="517550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94192" y="5248655"/>
            <a:ext cx="3840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256" y="5157215"/>
            <a:ext cx="2606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批准与执行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6256" y="5449823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逐笔确认或有效预授权；SQLite 事务复核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053328"/>
            <a:ext cx="3447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运行图按 agent-runtime.svg 重绘为可编辑元素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05 / 账单洞察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每条异常线索都能回到原始流水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规则提示是可解释的核对线索，不是欺诈判定。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2064" y="1938528"/>
            <a:ext cx="4041648" cy="124358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938528"/>
            <a:ext cx="45720" cy="1243584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规则一 · 固定大额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50592"/>
            <a:ext cx="36576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单笔支出不少于 ¥1,000 即提示人工核对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9806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示例：演示大额购物 ¥1,500.00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3310128"/>
            <a:ext cx="4041648" cy="175564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2064" y="3310128"/>
            <a:ext cx="45720" cy="1755648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规则二 · 相对历史中位数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22191"/>
            <a:ext cx="36576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本期单笔超过前一等长区间同分类中位数的 3 倍，且不少于 ¥100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6817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C6A2F"/>
                </a:solidFill>
                <a:latin typeface="Arial"/>
                <a:ea typeface="Microsoft YaHei"/>
                <a:cs typeface="Microsoft YaHei"/>
              </a:rPr>
              <a:t>示例：餐饮 ¥200.00 · 前期中位数 ¥20.00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4590288" y="3840480"/>
            <a:ext cx="182880" cy="182880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5230368"/>
            <a:ext cx="40416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同一事务读取本期与前一等长区间；消费 / 退款 / 转账分列，支持按原区间分页核对</a:t>
            </a:r>
          </a:p>
        </p:txBody>
      </p:sp>
      <p:pic>
        <p:nvPicPr>
          <p:cNvPr id="18" name="Picture 17" descr="bill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975988"/>
            <a:ext cx="6720840" cy="3344934"/>
          </a:xfrm>
          <a:prstGeom prst="rect">
            <a:avLst/>
          </a:prstGeom>
          <a:effectLst/>
        </p:spPr>
      </p:pic>
      <p:sp>
        <p:nvSpPr>
          <p:cNvPr id="19" name="Rectangle 18"/>
          <p:cNvSpPr/>
          <p:nvPr/>
        </p:nvSpPr>
        <p:spPr>
          <a:xfrm>
            <a:off x="4956048" y="1975988"/>
            <a:ext cx="6720840" cy="3344934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5504688"/>
            <a:ext cx="6720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合成流水示例 · 异常线索用于人工核对；截图原文保留 ¥1,500 与 ¥200 两条命中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06 / 核心业务演示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从订阅证据到两步执行形成闭环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识别结果只是候选；登记与执行都需要用户显式确认。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2064" y="1920240"/>
            <a:ext cx="2578608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066543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① 证据识别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77440"/>
            <a:ext cx="2240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同账户同商户三次以上等额月度支出 → 候选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3154680" y="2313432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55848" y="1920240"/>
            <a:ext cx="2578608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2066543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② 用户核对并登记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77440"/>
            <a:ext cx="2240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登记不扣款，也不产生授权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5998464" y="2313432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9631" y="1920240"/>
            <a:ext cx="2578608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066543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③ 预览并保存方案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40"/>
            <a:ext cx="2240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对象、金额与步骤顺序；保存本身不付款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8842248" y="2313432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43415" y="1920240"/>
            <a:ext cx="2578608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26295" y="2066543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④ 逐步批准执行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5" y="2377440"/>
            <a:ext cx="2240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每步独立确认，成功后才继续下一步</a:t>
            </a:r>
          </a:p>
        </p:txBody>
      </p:sp>
      <p:pic>
        <p:nvPicPr>
          <p:cNvPr id="21" name="Picture 20" descr="subscription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084999"/>
            <a:ext cx="2395728" cy="2772833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512064" y="3084999"/>
            <a:ext cx="2395728" cy="2772833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5907024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订阅证据 · 周期扣费核对</a:t>
            </a:r>
          </a:p>
        </p:txBody>
      </p:sp>
      <p:pic>
        <p:nvPicPr>
          <p:cNvPr id="24" name="Picture 23" descr="workflow-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558" y="3072383"/>
            <a:ext cx="4256210" cy="2798064"/>
          </a:xfrm>
          <a:prstGeom prst="rect">
            <a:avLst/>
          </a:prstGeom>
          <a:effectLst/>
        </p:spPr>
      </p:pic>
      <p:sp>
        <p:nvSpPr>
          <p:cNvPr id="25" name="Rectangle 24"/>
          <p:cNvSpPr/>
          <p:nvPr/>
        </p:nvSpPr>
        <p:spPr>
          <a:xfrm>
            <a:off x="3184558" y="3072383"/>
            <a:ext cx="4256210" cy="2798064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orkflow-complete.png"/>
          <p:cNvPicPr>
            <a:picLocks noChangeAspect="1"/>
          </p:cNvPicPr>
          <p:nvPr/>
        </p:nvPicPr>
        <p:blipFill>
          <a:blip r:embed="rId4"/>
          <a:srcRect t="32113" r="72222" b="63944"/>
          <a:stretch>
            <a:fillRect/>
          </a:stretch>
        </p:blipFill>
        <p:spPr>
          <a:xfrm>
            <a:off x="3072383" y="5925921"/>
            <a:ext cx="2926080" cy="273100"/>
          </a:xfrm>
          <a:prstGeom prst="rect">
            <a:avLst/>
          </a:prstGeom>
          <a:effectLst/>
        </p:spPr>
      </p:pic>
      <p:sp>
        <p:nvSpPr>
          <p:cNvPr id="27" name="Rectangle 26"/>
          <p:cNvSpPr/>
          <p:nvPr/>
        </p:nvSpPr>
        <p:spPr>
          <a:xfrm>
            <a:off x="3072383" y="5925921"/>
            <a:ext cx="2926080" cy="273100"/>
          </a:xfrm>
          <a:prstGeom prst="rect">
            <a:avLst/>
          </a:prstGeom>
          <a:noFill/>
          <a:ln w="9525">
            <a:solidFill>
              <a:srgbClr val="9C6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9904" y="5907024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放大标注：任务进度 · 已完成 2/2 步（截图原文）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3072384"/>
            <a:ext cx="3922776" cy="2798064"/>
          </a:xfrm>
          <a:prstGeom prst="roundRect">
            <a:avLst>
              <a:gd name="adj" fmla="val 4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3310128"/>
            <a:ext cx="3520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2 / 2 步已完成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回执来自实际模拟执行器；界面以任务步骤记录真实状态。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73568" y="4700016"/>
            <a:ext cx="3483864" cy="0"/>
          </a:xfrm>
          <a:prstGeom prst="line">
            <a:avLst/>
          </a:prstGeom>
          <a:ln w="9525">
            <a:solidFill>
              <a:srgbClr val="9C6A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73568" y="4846320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登记不扣款 · 取消不退款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未来减少的订阅支出不会被当作当前到账资金。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07 / 扩展场景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日期预算连接计划与用户确认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计划只保存日期与预算；创建时校验余额，但不冻结或预留资金。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2064" y="1938528"/>
            <a:ext cx="3557016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10312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① 日期与预算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3230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生日或纪念日场景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38528"/>
            <a:ext cx="3557016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7136" y="210312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② 余额校验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43230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按当时可用余额校验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38528"/>
            <a:ext cx="3557016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③ 保存计划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32304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不冻结、不预留资金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090672"/>
            <a:ext cx="3557016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255264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④ 用户手动下单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8444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可操作时间内点击界面按钮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90672"/>
            <a:ext cx="3557016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3255264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⑤ 待确认操作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58444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生成待确认的模拟转账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3090672"/>
            <a:ext cx="3557016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255264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⑥ 后端回执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584448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与原操作状态联动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4005072" y="2331720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 rot="5400000">
            <a:off x="7808975" y="2331720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9820656" y="2907791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/>
          <p:cNvSpPr/>
          <p:nvPr/>
        </p:nvSpPr>
        <p:spPr>
          <a:xfrm rot="16200000">
            <a:off x="7662672" y="3483864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/>
          <p:cNvSpPr/>
          <p:nvPr/>
        </p:nvSpPr>
        <p:spPr>
          <a:xfrm rot="16200000">
            <a:off x="3858768" y="3483864"/>
            <a:ext cx="146304" cy="146304"/>
          </a:xfrm>
          <a:prstGeom prst="triangle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12064" y="4370832"/>
            <a:ext cx="5404104" cy="1170432"/>
          </a:xfrm>
          <a:prstGeom prst="roundRect">
            <a:avLst>
              <a:gd name="adj" fmla="val 4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5537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卡片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882896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申请、调额、冻结与挂失由界面发起；写操作需要密码再认证。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4" y="4370832"/>
            <a:ext cx="5404104" cy="1170432"/>
          </a:xfrm>
          <a:prstGeom prst="roundRect">
            <a:avLst>
              <a:gd name="adj" fmla="val 4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45537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理财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82896"/>
            <a:ext cx="49377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申购与赎回由界面发起并逐笔确认；Agent 只查询与解释。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5742432"/>
            <a:ext cx="111675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Agent 只读与解释场景计划，不能创建、修改或下单；计划不会自动触发转账。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08 / 安全设计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权限落实到账户 对象 金额与期限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登录身份与资金权限分离；密码、Cookie 与确认凭证都不进入模型。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ransfer-confi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903279"/>
            <a:ext cx="3163824" cy="3929265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512064" y="1903279"/>
            <a:ext cx="3163824" cy="3929265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5907024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后端确认摘要：对象 金额 费用与余额预览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901952"/>
            <a:ext cx="7653527" cy="932688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23360" y="1901952"/>
            <a:ext cx="45720" cy="932688"/>
          </a:xfrm>
          <a:prstGeom prst="rect">
            <a:avLst/>
          </a:prstGeom>
          <a:solidFill>
            <a:srgbClr val="2F7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20665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身份层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84832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登录会话与资金权限分离；密码再认证只发生在界面，模型看不到凭据。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944368"/>
            <a:ext cx="7653527" cy="932688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0" y="2944368"/>
            <a:ext cx="45720" cy="932688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9392" y="31089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确认层（默认）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127248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逐笔人工确认，挑战绑定当前会话、原操作与准确参数；关闭窗口不会执行。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986783"/>
            <a:ext cx="7653527" cy="932688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23360" y="3986783"/>
            <a:ext cx="45720" cy="932688"/>
          </a:xfrm>
          <a:prstGeom prst="rect">
            <a:avLst/>
          </a:prstGeom>
          <a:solidFill>
            <a:srgbClr val="20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4151375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预授权层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169663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限定账户、收款对象、单笔与累计额度、最低保留余额与期限；执行时再次复核。</a:t>
            </a:r>
          </a:p>
        </p:txBody>
      </p:sp>
      <p:pic>
        <p:nvPicPr>
          <p:cNvPr id="21" name="Picture 20" descr="14-authorization-scope.png"/>
          <p:cNvPicPr>
            <a:picLocks noChangeAspect="1"/>
          </p:cNvPicPr>
          <p:nvPr/>
        </p:nvPicPr>
        <p:blipFill>
          <a:blip r:embed="rId4"/>
          <a:srcRect l="22917" t="31667" r="34028" b="54167"/>
          <a:stretch>
            <a:fillRect/>
          </a:stretch>
        </p:blipFill>
        <p:spPr>
          <a:xfrm>
            <a:off x="4134701" y="4992624"/>
            <a:ext cx="4001844" cy="1097280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4134701" y="4992624"/>
            <a:ext cx="4001844" cy="1097280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6126480"/>
            <a:ext cx="4224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预授权表单的额度、最低余额与截止时间（截图原文）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4992624"/>
            <a:ext cx="3191256" cy="1097280"/>
          </a:xfrm>
          <a:prstGeom prst="roundRect">
            <a:avLst>
              <a:gd name="adj" fmla="val 4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5157216"/>
            <a:ext cx="278892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结果未知 → 保留预占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按原操作编号核对，避免重复扣款；模型不能执行批准。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09 / 验证证据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验证记录覆盖回归 环境与人工流程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区分自动化回归、依赖环境复现与人工流程审核。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2064" y="1883664"/>
            <a:ext cx="3557016" cy="1627632"/>
          </a:xfrm>
          <a:prstGeom prst="roundRect">
            <a:avLst>
              <a:gd name="adj" fmla="val 4000"/>
            </a:avLst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66543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235</a:t>
            </a:r>
            <a:r>
              <a:rPr sz="16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  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自动化回归通过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54096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Windows · Python 3.14.6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含 1 项前端浏览器冒烟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83664"/>
            <a:ext cx="3557016" cy="1627632"/>
          </a:xfrm>
          <a:prstGeom prst="roundRect">
            <a:avLst>
              <a:gd name="adj" fmla="val 4000"/>
            </a:avLst>
          </a:prstGeom>
          <a:solidFill>
            <a:srgbClr val="F5E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2066543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39</a:t>
            </a:r>
            <a:r>
              <a:rPr sz="16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  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743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新建环境定向测试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3054096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Python 3.13 按锁文件安装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pip check 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883664"/>
            <a:ext cx="3557016" cy="1627632"/>
          </a:xfrm>
          <a:prstGeom prst="roundRect">
            <a:avLst>
              <a:gd name="adj" fmla="val 4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2066543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10</a:t>
            </a:r>
            <a:r>
              <a:rPr sz="16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 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743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人工流程审核通过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054096"/>
            <a:ext cx="31089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MAN-01 至 MAN-10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项目负责人确认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3785615"/>
            <a:ext cx="2514600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3950207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资金一致性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261104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双边账本、原子转账与余额校验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72968" y="3785615"/>
            <a:ext cx="2514600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55848" y="3950207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权限隔离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4261104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跨用户隔离、本人对象归属校验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4846320"/>
            <a:ext cx="2514600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" y="50109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失败恢复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321808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保留预占，按原编号核对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72968" y="4846320"/>
            <a:ext cx="2514600" cy="932688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55848" y="50109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界面流程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5321808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逐笔确认、预授权范围与再认证</a:t>
            </a:r>
          </a:p>
        </p:txBody>
      </p:sp>
      <p:pic>
        <p:nvPicPr>
          <p:cNvPr id="30" name="Picture 29" descr="context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800274"/>
            <a:ext cx="5687568" cy="1415434"/>
          </a:xfrm>
          <a:prstGeom prst="rect">
            <a:avLst/>
          </a:prstGeom>
          <a:effectLst/>
        </p:spPr>
      </p:pic>
      <p:sp>
        <p:nvSpPr>
          <p:cNvPr id="31" name="Rectangle 30"/>
          <p:cNvSpPr/>
          <p:nvPr/>
        </p:nvSpPr>
        <p:spPr>
          <a:xfrm>
            <a:off x="5989320" y="3800274"/>
            <a:ext cx="5687568" cy="1415434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5321808"/>
            <a:ext cx="56875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补充机制：每轮按预算装配上下文并回填后端状态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" y="5925312"/>
            <a:ext cx="11167567" cy="384048"/>
          </a:xfrm>
          <a:prstGeom prst="roundRect">
            <a:avLst>
              <a:gd name="adj" fmla="val 8000"/>
            </a:avLst>
          </a:prstGeom>
          <a:solidFill>
            <a:srgbClr val="203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6016752"/>
            <a:ext cx="107286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FFFDF9"/>
                </a:solidFill>
                <a:latin typeface="Arial"/>
                <a:ea typeface="Microsoft YaHei"/>
                <a:cs typeface="Microsoft YaHei"/>
              </a:rPr>
              <a:t>历史真实模型样本另有记录（35/36 结构检查通过，1 </a:t>
            </a:r>
            <a:r>
              <a:rPr sz="1250" b="1" dirty="0" err="1">
                <a:solidFill>
                  <a:srgbClr val="FFFDF9"/>
                </a:solidFill>
                <a:latin typeface="Arial"/>
                <a:ea typeface="Microsoft YaHei"/>
                <a:cs typeface="Microsoft YaHei"/>
              </a:rPr>
              <a:t>条因输出预算被保护拦截且无扣款</a:t>
            </a:r>
            <a:r>
              <a:rPr sz="1250" b="1" dirty="0">
                <a:solidFill>
                  <a:srgbClr val="FFFDF9"/>
                </a:solidFill>
                <a:latin typeface="Arial"/>
                <a:ea typeface="Microsoft YaHei"/>
                <a:cs typeface="Microsoft YaHei"/>
              </a:rPr>
              <a:t>），</a:t>
            </a:r>
            <a:r>
              <a:rPr sz="1250" b="1" dirty="0" err="1">
                <a:solidFill>
                  <a:srgbClr val="FFFDF9"/>
                </a:solidFill>
                <a:latin typeface="Arial"/>
                <a:ea typeface="Microsoft YaHei"/>
                <a:cs typeface="Microsoft YaHei"/>
              </a:rPr>
              <a:t>不换算为模型业务成功率</a:t>
            </a:r>
            <a:r>
              <a:rPr sz="1250" b="1" dirty="0">
                <a:solidFill>
                  <a:srgbClr val="FFFDF9"/>
                </a:solidFill>
                <a:latin typeface="Arial"/>
                <a:ea typeface="Microsoft YaHei"/>
                <a:cs typeface="Microsoft YaHei"/>
              </a:rPr>
              <a:t>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10 / 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以可解释查询和受控执行连接银行代办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30352" y="2340864"/>
            <a:ext cx="182880" cy="36576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5669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查询有依据</a:t>
            </a:r>
            <a:r>
              <a:rPr sz="2400" b="1" dirty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2400" b="1" dirty="0" err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对象可澄清</a:t>
            </a:r>
            <a:endParaRPr sz="2400" b="1" dirty="0">
              <a:solidFill>
                <a:srgbClr val="20323D"/>
              </a:solidFill>
              <a:latin typeface="Arial"/>
              <a:ea typeface="Microsoft YaHei"/>
              <a:cs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352" y="3200400"/>
            <a:ext cx="182880" cy="36576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3072384"/>
            <a:ext cx="5669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执行有边界 · 状态可恢复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4059935"/>
            <a:ext cx="182880" cy="36576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3931920"/>
            <a:ext cx="56692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本地模拟闭环 · 可运行可复核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901184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AI-Banking 把金融意图落实到可解释查询、明确对象、受控执行与可核对回执。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配套源码、部署说明与验证记录，便于评审运行与复核。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893635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完整工作台与配套技术</a:t>
            </a:r>
            <a:r>
              <a:rPr sz="12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/ </a:t>
            </a:r>
            <a:r>
              <a:rPr sz="12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安全</a:t>
            </a:r>
            <a:r>
              <a:rPr sz="1250" b="0" dirty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 / </a:t>
            </a:r>
            <a:r>
              <a:rPr sz="1250" b="0" dirty="0" err="1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部署材料</a:t>
            </a:r>
            <a:endParaRPr sz="1250" b="0" dirty="0">
              <a:solidFill>
                <a:srgbClr val="5E6E73"/>
              </a:solidFill>
              <a:latin typeface="Arial"/>
              <a:ea typeface="Microsoft YaHei"/>
              <a:cs typeface="Microsoft YaHe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答辩结束</a:t>
            </a:r>
          </a:p>
        </p:txBody>
      </p:sp>
      <p:pic>
        <p:nvPicPr>
          <p:cNvPr id="18" name="Picture 11">
            <a:extLst>
              <a:ext uri="{FF2B5EF4-FFF2-40B4-BE49-F238E27FC236}">
                <a16:creationId xmlns:a16="http://schemas.microsoft.com/office/drawing/2014/main" id="{D7CD46FD-CFA5-032B-09F7-88D646CE7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02" y="1956816"/>
            <a:ext cx="5242782" cy="36415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附录 A · 备选附页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每轮上下文装配与预算保护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上下文按预算装配；预算不足时停止新增操作，不继续冒险执行。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ntext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1892907"/>
            <a:ext cx="8229600" cy="2048056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1984248" y="1892907"/>
            <a:ext cx="8229600" cy="2048056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84248" y="400507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每轮装配：系统约束与工具 → 必要时摘录旧轮 → 调用前再查预算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4443984"/>
            <a:ext cx="3557016" cy="10607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60857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最近 12 轮原文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93776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更早回合压成带轮次编号、最初目标与省略数量的确定性摘录。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443984"/>
            <a:ext cx="3557016" cy="10607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460857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工具结果截断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93776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超过 MODEL_TOOL_OUTPUT_CHARS 时截断，并提示用户分页查询。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443984"/>
            <a:ext cx="3557016" cy="1060704"/>
          </a:xfrm>
          <a:prstGeom prst="roundRect">
            <a:avLst>
              <a:gd name="adj" fmla="val 5000"/>
            </a:avLst>
          </a:prstGeom>
          <a:solidFill>
            <a:srgbClr val="FFFDF9"/>
          </a:solidFill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460857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预算不足即停止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返回 CONTEXT_BUDGET_EXCEEDED，本轮不执行新操作并保留检查点。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705856"/>
            <a:ext cx="111675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token 为本地启发式估算，摘要为确定性摘录而非生成式；未做供应商 tokenizer 校准。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附录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402336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7466"/>
                </a:solidFill>
                <a:latin typeface="Arial"/>
                <a:ea typeface="Microsoft YaHei"/>
                <a:cs typeface="Microsoft YaHei"/>
              </a:rPr>
              <a:t>附录 B · 备选附页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76656"/>
            <a:ext cx="11167567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390×844 浏览器视口示例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16736"/>
            <a:ext cx="111675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用于说明窄屏布局，不代表真实手机设备验收。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4" y="164592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3-workflow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17" y="1883664"/>
            <a:ext cx="1825333" cy="3950208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559517" y="1883664"/>
            <a:ext cx="1825333" cy="3950208"/>
          </a:xfrm>
          <a:prstGeom prst="rect">
            <a:avLst/>
          </a:prstGeom>
          <a:noFill/>
          <a:ln w="9525">
            <a:solidFill>
              <a:srgbClr val="DE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5888736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390×844 视口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8750808" cy="358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该图是浏览器视口截图</a:t>
            </a:r>
            <a:endParaRPr sz="2200" b="1" dirty="0">
              <a:solidFill>
                <a:srgbClr val="20323D"/>
              </a:solidFill>
              <a:latin typeface="Arial"/>
              <a:ea typeface="Microsoft YaHei"/>
              <a:cs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62656" y="3072384"/>
            <a:ext cx="146304" cy="27432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36976" y="2962656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界面为同源原生 Web，没有独立移动端 App；同一套页面适配窄屏。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2656" y="3858768"/>
            <a:ext cx="146304" cy="27432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374904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820 与 390 宽度已确认无横向溢出；未做真实手机设备验收，仍属待办事项。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656" y="4645152"/>
            <a:ext cx="146304" cy="27432"/>
          </a:xfrm>
          <a:prstGeom prst="rect">
            <a:avLst/>
          </a:prstGeom>
          <a:solidFill>
            <a:srgbClr val="9C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36976" y="4535424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工作流、确认与预授权流程在窄屏下同样需要逐笔确认，不做简化。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5358384"/>
            <a:ext cx="8750808" cy="566928"/>
          </a:xfrm>
          <a:prstGeom prst="roundRect">
            <a:avLst>
              <a:gd name="adj" fmla="val 5000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45536" y="5486400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323D"/>
                </a:solidFill>
                <a:latin typeface="Arial"/>
                <a:ea typeface="Microsoft YaHei"/>
                <a:cs typeface="Microsoft YaHei"/>
              </a:rPr>
              <a:t>其余运行原图与前端浏览器冒烟用例见交付材料，验收口径以项目状态记录为准。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" y="6400800"/>
            <a:ext cx="11167567" cy="0"/>
          </a:xfrm>
          <a:prstGeom prst="line">
            <a:avLst/>
          </a:prstGeom>
          <a:ln w="9525">
            <a:solidFill>
              <a:srgbClr val="DED6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2064" y="64739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AI Banking · 本地模拟 · 虚构数据 · 脚本化 Agent 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7951" y="6473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E73"/>
                </a:solidFill>
                <a:latin typeface="Arial"/>
                <a:ea typeface="Microsoft YaHei"/>
                <a:cs typeface="Microsoft YaHei"/>
              </a:rPr>
              <a:t>附录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1169</Words>
  <Application>Microsoft Office PowerPoint</Application>
  <PresentationFormat>宽屏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Banking 答辩演示</dc:title>
  <dc:subject>竞赛答辩 · 10 页正文与 2 页备选附录</dc:subject>
  <dc:creator/>
  <cp:keywords>AI-Banking, 模拟银行, 受控操作, 答辩</cp:keywords>
  <dc:description>generated using python-pptx</dc:description>
  <cp:lastModifiedBy>崔 闰惜</cp:lastModifiedBy>
  <cp:revision>2</cp:revision>
  <dcterms:created xsi:type="dcterms:W3CDTF">2013-01-27T09:14:16Z</dcterms:created>
  <dcterms:modified xsi:type="dcterms:W3CDTF">2026-10-31T04:48:19Z</dcterms:modified>
  <cp:category/>
</cp:coreProperties>
</file>